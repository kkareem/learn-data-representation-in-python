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مخطط عظمة السمكة (Fishbone / Ishikawa)</a:t>
            </a:r>
          </a:p>
        </p:txBody>
      </p:sp>
      <p:sp>
        <p:nvSpPr>
          <p:cNvPr id="3" name="Right Arrow 2"/>
          <p:cNvSpPr/>
          <p:nvPr/>
        </p:nvSpPr>
        <p:spPr>
          <a:xfrm>
            <a:off x="640080" y="2834640"/>
            <a:ext cx="7589520" cy="548640"/>
          </a:xfrm>
          <a:prstGeom prst="rightArrow">
            <a:avLst/>
          </a:prstGeom>
          <a:solidFill>
            <a:srgbClr val="E6E6E6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0" y="25603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b="1"/>
              <a:t>المشكلة:</a:t>
            </a:r>
          </a:p>
          <a:p>
            <a:r>
              <a:t>عدم تنظيف وتعقيم الأسطح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005840"/>
            <a:ext cx="2926080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F81BD"/>
                </a:solidFill>
              </a:defRPr>
            </a:pPr>
            <a:r>
              <a:t>العوامل البشرية (Man)</a:t>
            </a:r>
          </a:p>
          <a:p>
            <a:pPr lvl="1">
              <a:defRPr sz="1400"/>
            </a:pPr>
            <a:r>
              <a:t>• ضعف الوعي بأهمية التعقيم</a:t>
            </a:r>
          </a:p>
          <a:p>
            <a:pPr lvl="1">
              <a:defRPr sz="1400"/>
            </a:pPr>
            <a:r>
              <a:t>• قلة المتابعة والإشراف</a:t>
            </a:r>
          </a:p>
          <a:p>
            <a:pPr lvl="1">
              <a:defRPr sz="1400"/>
            </a:pPr>
            <a:r>
              <a:t>• تقصير في الالتزام بالتعليمات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005840"/>
            <a:ext cx="2926080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F81BD"/>
                </a:solidFill>
              </a:defRPr>
            </a:pPr>
            <a:r>
              <a:t>المواد (Materials)</a:t>
            </a:r>
          </a:p>
          <a:p>
            <a:pPr lvl="1">
              <a:defRPr sz="1400"/>
            </a:pPr>
            <a:r>
              <a:t>• نقص في المواد المطهرة</a:t>
            </a:r>
          </a:p>
          <a:p>
            <a:pPr lvl="1">
              <a:defRPr sz="1400"/>
            </a:pPr>
            <a:r>
              <a:t>• استخدام مواد غير فعالة</a:t>
            </a:r>
          </a:p>
          <a:p>
            <a:pPr lvl="1">
              <a:defRPr sz="1400"/>
            </a:pPr>
            <a:r>
              <a:t>• انتهاء صلاحية بعض المواد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4206240"/>
            <a:ext cx="2926080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F81BD"/>
                </a:solidFill>
              </a:defRPr>
            </a:pPr>
            <a:r>
              <a:t>الطرق (Methods)</a:t>
            </a:r>
          </a:p>
          <a:p>
            <a:pPr lvl="1">
              <a:defRPr sz="1400"/>
            </a:pPr>
            <a:r>
              <a:t>• عدم وجود بروتوكول ثابت للتنظيف</a:t>
            </a:r>
          </a:p>
          <a:p>
            <a:pPr lvl="1">
              <a:defRPr sz="1400"/>
            </a:pPr>
            <a:r>
              <a:t>• ضعف نظام المراقبة</a:t>
            </a:r>
          </a:p>
          <a:p>
            <a:pPr lvl="1">
              <a:defRPr sz="1400"/>
            </a:pPr>
            <a:r>
              <a:t>• عدم وجود خطة دورية للتنظيف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4206240"/>
            <a:ext cx="2926080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F81BD"/>
                </a:solidFill>
              </a:defRPr>
            </a:pPr>
            <a:r>
              <a:t>البيئة (Environment)</a:t>
            </a:r>
          </a:p>
          <a:p>
            <a:pPr lvl="1">
              <a:defRPr sz="1400"/>
            </a:pPr>
            <a:r>
              <a:t>• ازدحام داخل الوحدة</a:t>
            </a:r>
          </a:p>
          <a:p>
            <a:pPr lvl="1">
              <a:defRPr sz="1400"/>
            </a:pPr>
            <a:r>
              <a:t>• ضغط العمل وكثرة المرضى</a:t>
            </a:r>
          </a:p>
          <a:p>
            <a:pPr lvl="1">
              <a:defRPr sz="1400"/>
            </a:pPr>
            <a:r>
              <a:t>• بيئة غير مهيأة للعمل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5394960"/>
            <a:ext cx="2926080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F81BD"/>
                </a:solidFill>
              </a:defRPr>
            </a:pPr>
            <a:r>
              <a:t>الأجهزة (Equipment)</a:t>
            </a:r>
          </a:p>
          <a:p>
            <a:pPr lvl="1">
              <a:defRPr sz="1400"/>
            </a:pPr>
            <a:r>
              <a:t>• تعطل بعض الأجهزة</a:t>
            </a:r>
          </a:p>
          <a:p>
            <a:pPr lvl="1">
              <a:defRPr sz="1400"/>
            </a:pPr>
            <a:r>
              <a:t>• عدم توفر أدوات تعقيم كافية</a:t>
            </a:r>
          </a:p>
          <a:p>
            <a:pPr lvl="1">
              <a:defRPr sz="1400"/>
            </a:pPr>
            <a:r>
              <a:t>• ضعف الصيانة الدورية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920240" y="1737360.0"/>
            <a:ext cx="1188720" cy="1097280.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66160" y="1737360.0"/>
            <a:ext cx="822960" cy="1097280.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920240" y="3383280"/>
            <a:ext cx="1188720" cy="1554480.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566160" y="3383280"/>
            <a:ext cx="2103120" cy="1554480.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5120640" y="3108960"/>
            <a:ext cx="457200" cy="3017520.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